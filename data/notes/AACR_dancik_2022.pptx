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43891200" cy="32918400"/>
  <p:notesSz cx="6980238" cy="922337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1pPr>
    <a:lvl2pPr marL="753008" algn="ctr" rtl="0" fontAlgn="base">
      <a:spcBef>
        <a:spcPct val="0"/>
      </a:spcBef>
      <a:spcAft>
        <a:spcPct val="0"/>
      </a:spcAft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2pPr>
    <a:lvl3pPr marL="1506017" algn="ctr" rtl="0" fontAlgn="base">
      <a:spcBef>
        <a:spcPct val="0"/>
      </a:spcBef>
      <a:spcAft>
        <a:spcPct val="0"/>
      </a:spcAft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3pPr>
    <a:lvl4pPr marL="2259025" algn="ctr" rtl="0" fontAlgn="base">
      <a:spcBef>
        <a:spcPct val="0"/>
      </a:spcBef>
      <a:spcAft>
        <a:spcPct val="0"/>
      </a:spcAft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4pPr>
    <a:lvl5pPr marL="3012034" algn="ctr" rtl="0" fontAlgn="base">
      <a:spcBef>
        <a:spcPct val="0"/>
      </a:spcBef>
      <a:spcAft>
        <a:spcPct val="0"/>
      </a:spcAft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5pPr>
    <a:lvl6pPr marL="3765042" algn="l" defTabSz="1506017" rtl="0" eaLnBrk="1" latinLnBrk="0" hangingPunct="1"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6pPr>
    <a:lvl7pPr marL="4518050" algn="l" defTabSz="1506017" rtl="0" eaLnBrk="1" latinLnBrk="0" hangingPunct="1"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7pPr>
    <a:lvl8pPr marL="5271059" algn="l" defTabSz="1506017" rtl="0" eaLnBrk="1" latinLnBrk="0" hangingPunct="1"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8pPr>
    <a:lvl9pPr marL="6024067" algn="l" defTabSz="1506017" rtl="0" eaLnBrk="1" latinLnBrk="0" hangingPunct="1">
      <a:defRPr sz="17500" kern="1200">
        <a:solidFill>
          <a:schemeClr val="tx2"/>
        </a:solidFill>
        <a:latin typeface="Arial" charset="0"/>
        <a:ea typeface="ＭＳ Ｐゴシック" pitchFamily="-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02">
          <p15:clr>
            <a:srgbClr val="A4A3A4"/>
          </p15:clr>
        </p15:guide>
        <p15:guide id="2" orient="horz" pos="20489">
          <p15:clr>
            <a:srgbClr val="A4A3A4"/>
          </p15:clr>
        </p15:guide>
        <p15:guide id="3" orient="horz" pos="3456">
          <p15:clr>
            <a:srgbClr val="A4A3A4"/>
          </p15:clr>
        </p15:guide>
        <p15:guide id="4" orient="horz" pos="3703">
          <p15:clr>
            <a:srgbClr val="A4A3A4"/>
          </p15:clr>
        </p15:guide>
        <p15:guide id="5" orient="horz" pos="247">
          <p15:clr>
            <a:srgbClr val="A4A3A4"/>
          </p15:clr>
        </p15:guide>
        <p15:guide id="6" orient="horz" pos="4690">
          <p15:clr>
            <a:srgbClr val="A4A3A4"/>
          </p15:clr>
        </p15:guide>
        <p15:guide id="7" orient="horz" pos="741">
          <p15:clr>
            <a:srgbClr val="A4A3A4"/>
          </p15:clr>
        </p15:guide>
        <p15:guide id="8" orient="horz" pos="10615">
          <p15:clr>
            <a:srgbClr val="A4A3A4"/>
          </p15:clr>
        </p15:guide>
        <p15:guide id="9" pos="20506">
          <p15:clr>
            <a:srgbClr val="A4A3A4"/>
          </p15:clr>
        </p15:guide>
        <p15:guide id="10" pos="7142">
          <p15:clr>
            <a:srgbClr val="A4A3A4"/>
          </p15:clr>
        </p15:guide>
        <p15:guide id="11" pos="20966">
          <p15:clr>
            <a:srgbClr val="A4A3A4"/>
          </p15:clr>
        </p15:guide>
        <p15:guide id="12" pos="13594">
          <p15:clr>
            <a:srgbClr val="A4A3A4"/>
          </p15:clr>
        </p15:guide>
        <p15:guide id="13" pos="230">
          <p15:clr>
            <a:srgbClr val="A4A3A4"/>
          </p15:clr>
        </p15:guide>
        <p15:guide id="14" pos="14054">
          <p15:clr>
            <a:srgbClr val="A4A3A4"/>
          </p15:clr>
        </p15:guide>
        <p15:guide id="15" pos="6682">
          <p15:clr>
            <a:srgbClr val="A4A3A4"/>
          </p15:clr>
        </p15:guide>
        <p15:guide id="16" pos="2741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C2128"/>
    <a:srgbClr val="002649"/>
    <a:srgbClr val="7C211E"/>
    <a:srgbClr val="FFFFE9"/>
    <a:srgbClr val="E9EFFF"/>
    <a:srgbClr val="A7CBFF"/>
    <a:srgbClr val="85B6FF"/>
    <a:srgbClr val="63A2FF"/>
    <a:srgbClr val="0066FF"/>
    <a:srgbClr val="004F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5639" autoAdjust="0"/>
  </p:normalViewPr>
  <p:slideViewPr>
    <p:cSldViewPr>
      <p:cViewPr varScale="1">
        <p:scale>
          <a:sx n="19" d="100"/>
          <a:sy n="19" d="100"/>
        </p:scale>
        <p:origin x="304" y="576"/>
      </p:cViewPr>
      <p:guideLst>
        <p:guide orient="horz" pos="19502"/>
        <p:guide orient="horz" pos="20489"/>
        <p:guide orient="horz" pos="3456"/>
        <p:guide orient="horz" pos="3703"/>
        <p:guide orient="horz" pos="247"/>
        <p:guide orient="horz" pos="4690"/>
        <p:guide orient="horz" pos="741"/>
        <p:guide orient="horz" pos="10615"/>
        <p:guide pos="20506"/>
        <p:guide pos="7142"/>
        <p:guide pos="20966"/>
        <p:guide pos="13594"/>
        <p:guide pos="230"/>
        <p:guide pos="14054"/>
        <p:guide pos="6682"/>
        <p:guide pos="274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228600" cy="2286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4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4463" y="0"/>
            <a:ext cx="30241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3024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4463" y="8759825"/>
            <a:ext cx="30241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7B724EF-3BA8-4495-980E-873231DFF2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11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4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4463" y="0"/>
            <a:ext cx="30241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2150"/>
            <a:ext cx="4611688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8500" y="4381500"/>
            <a:ext cx="5583238" cy="414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3024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4463" y="8759825"/>
            <a:ext cx="30241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A31FA4-1652-4823-8392-B6171FB7B9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2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1pPr>
    <a:lvl2pPr marL="753008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1506017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2259025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3012034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3765042" algn="l" defTabSz="75300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518050" algn="l" defTabSz="75300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271059" algn="l" defTabSz="75300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6024067" algn="l" defTabSz="75300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4275" y="692150"/>
            <a:ext cx="4611688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A31FA4-1652-4823-8392-B6171FB7B99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01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116" y="10227129"/>
            <a:ext cx="37308971" cy="7053943"/>
          </a:xfrm>
          <a:prstGeom prst="rect">
            <a:avLst/>
          </a:prstGeom>
        </p:spPr>
        <p:txBody>
          <a:bodyPr vert="horz" lIns="150602" tIns="75301" rIns="150602" bIns="7530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045" y="18652672"/>
            <a:ext cx="30723114" cy="8414657"/>
          </a:xfrm>
          <a:prstGeom prst="rect">
            <a:avLst/>
          </a:prstGeom>
        </p:spPr>
        <p:txBody>
          <a:bodyPr vert="horz" lIns="150602" tIns="75301" rIns="150602" bIns="75301"/>
          <a:lstStyle>
            <a:lvl1pPr marL="0" indent="0" algn="ctr">
              <a:buNone/>
              <a:defRPr/>
            </a:lvl1pPr>
            <a:lvl2pPr marL="753008" indent="0" algn="ctr">
              <a:buNone/>
              <a:defRPr/>
            </a:lvl2pPr>
            <a:lvl3pPr marL="1506017" indent="0" algn="ctr">
              <a:buNone/>
              <a:defRPr/>
            </a:lvl3pPr>
            <a:lvl4pPr marL="2259025" indent="0" algn="ctr">
              <a:buNone/>
              <a:defRPr/>
            </a:lvl4pPr>
            <a:lvl5pPr marL="3012034" indent="0" algn="ctr">
              <a:buNone/>
              <a:defRPr/>
            </a:lvl5pPr>
            <a:lvl6pPr marL="3765042" indent="0" algn="ctr">
              <a:buNone/>
              <a:defRPr/>
            </a:lvl6pPr>
            <a:lvl7pPr marL="4518050" indent="0" algn="ctr">
              <a:buNone/>
              <a:defRPr/>
            </a:lvl7pPr>
            <a:lvl8pPr marL="5271059" indent="0" algn="ctr">
              <a:buNone/>
              <a:defRPr/>
            </a:lvl8pPr>
            <a:lvl9pPr marL="602406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287" y="1317171"/>
            <a:ext cx="39500629" cy="5486400"/>
          </a:xfrm>
          <a:prstGeom prst="rect">
            <a:avLst/>
          </a:prstGeom>
        </p:spPr>
        <p:txBody>
          <a:bodyPr vert="horz" lIns="150602" tIns="75301" rIns="150602" bIns="7530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5287" y="7679874"/>
            <a:ext cx="39500629" cy="21725165"/>
          </a:xfrm>
          <a:prstGeom prst="rect">
            <a:avLst/>
          </a:prstGeom>
        </p:spPr>
        <p:txBody>
          <a:bodyPr vert="horz" lIns="150602" tIns="75301" rIns="150602" bIns="7530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386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668"/>
            <a:ext cx="37307157" cy="6536871"/>
          </a:xfrm>
          <a:prstGeom prst="rect">
            <a:avLst/>
          </a:prstGeom>
        </p:spPr>
        <p:txBody>
          <a:bodyPr vert="horz" lIns="150602" tIns="75301" rIns="150602" bIns="75301" anchor="t"/>
          <a:lstStyle>
            <a:lvl1pPr algn="l">
              <a:defRPr sz="6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768"/>
            <a:ext cx="37307157" cy="7200900"/>
          </a:xfrm>
          <a:prstGeom prst="rect">
            <a:avLst/>
          </a:prstGeom>
        </p:spPr>
        <p:txBody>
          <a:bodyPr vert="horz" lIns="150602" tIns="75301" rIns="150602" bIns="75301" anchor="b"/>
          <a:lstStyle>
            <a:lvl1pPr marL="0" indent="0">
              <a:buNone/>
              <a:defRPr sz="3300"/>
            </a:lvl1pPr>
            <a:lvl2pPr marL="753008" indent="0">
              <a:buNone/>
              <a:defRPr sz="3000"/>
            </a:lvl2pPr>
            <a:lvl3pPr marL="1506017" indent="0">
              <a:buNone/>
              <a:defRPr sz="2600"/>
            </a:lvl3pPr>
            <a:lvl4pPr marL="2259025" indent="0">
              <a:buNone/>
              <a:defRPr sz="2300"/>
            </a:lvl4pPr>
            <a:lvl5pPr marL="3012034" indent="0">
              <a:buNone/>
              <a:defRPr sz="2300"/>
            </a:lvl5pPr>
            <a:lvl6pPr marL="3765042" indent="0">
              <a:buNone/>
              <a:defRPr sz="2300"/>
            </a:lvl6pPr>
            <a:lvl7pPr marL="4518050" indent="0">
              <a:buNone/>
              <a:defRPr sz="2300"/>
            </a:lvl7pPr>
            <a:lvl8pPr marL="5271059" indent="0">
              <a:buNone/>
              <a:defRPr sz="2300"/>
            </a:lvl8pPr>
            <a:lvl9pPr marL="6024067" indent="0">
              <a:buNone/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204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287" y="1317171"/>
            <a:ext cx="39500629" cy="5486400"/>
          </a:xfrm>
          <a:prstGeom prst="rect">
            <a:avLst/>
          </a:prstGeom>
        </p:spPr>
        <p:txBody>
          <a:bodyPr vert="horz" lIns="150602" tIns="75301" rIns="150602" bIns="7530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5286" y="7679874"/>
            <a:ext cx="19663229" cy="21725165"/>
          </a:xfrm>
          <a:prstGeom prst="rect">
            <a:avLst/>
          </a:prstGeom>
        </p:spPr>
        <p:txBody>
          <a:bodyPr vert="horz" lIns="150602" tIns="75301" rIns="150602" bIns="75301"/>
          <a:lstStyle>
            <a:lvl1pPr>
              <a:defRPr sz="46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32686" y="7679874"/>
            <a:ext cx="19663229" cy="21725165"/>
          </a:xfrm>
          <a:prstGeom prst="rect">
            <a:avLst/>
          </a:prstGeom>
        </p:spPr>
        <p:txBody>
          <a:bodyPr vert="horz" lIns="150602" tIns="75301" rIns="150602" bIns="75301"/>
          <a:lstStyle>
            <a:lvl1pPr>
              <a:defRPr sz="46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551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287" y="1317171"/>
            <a:ext cx="39500629" cy="5486400"/>
          </a:xfrm>
          <a:prstGeom prst="rect">
            <a:avLst/>
          </a:prstGeom>
        </p:spPr>
        <p:txBody>
          <a:bodyPr vert="horz" lIns="150602" tIns="75301" rIns="150602" bIns="75301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5285" y="7369629"/>
            <a:ext cx="19392901" cy="3069771"/>
          </a:xfrm>
          <a:prstGeom prst="rect">
            <a:avLst/>
          </a:prstGeom>
        </p:spPr>
        <p:txBody>
          <a:bodyPr vert="horz" lIns="150602" tIns="75301" rIns="150602" bIns="75301" anchor="b"/>
          <a:lstStyle>
            <a:lvl1pPr marL="0" indent="0">
              <a:buNone/>
              <a:defRPr sz="4000" b="1"/>
            </a:lvl1pPr>
            <a:lvl2pPr marL="753008" indent="0">
              <a:buNone/>
              <a:defRPr sz="3300" b="1"/>
            </a:lvl2pPr>
            <a:lvl3pPr marL="1506017" indent="0">
              <a:buNone/>
              <a:defRPr sz="3000" b="1"/>
            </a:lvl3pPr>
            <a:lvl4pPr marL="2259025" indent="0">
              <a:buNone/>
              <a:defRPr sz="2600" b="1"/>
            </a:lvl4pPr>
            <a:lvl5pPr marL="3012034" indent="0">
              <a:buNone/>
              <a:defRPr sz="2600" b="1"/>
            </a:lvl5pPr>
            <a:lvl6pPr marL="3765042" indent="0">
              <a:buNone/>
              <a:defRPr sz="2600" b="1"/>
            </a:lvl6pPr>
            <a:lvl7pPr marL="4518050" indent="0">
              <a:buNone/>
              <a:defRPr sz="2600" b="1"/>
            </a:lvl7pPr>
            <a:lvl8pPr marL="5271059" indent="0">
              <a:buNone/>
              <a:defRPr sz="2600" b="1"/>
            </a:lvl8pPr>
            <a:lvl9pPr marL="6024067" indent="0">
              <a:buNone/>
              <a:defRPr sz="2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5285" y="10439400"/>
            <a:ext cx="19392901" cy="18965637"/>
          </a:xfrm>
          <a:prstGeom prst="rect">
            <a:avLst/>
          </a:prstGeom>
        </p:spPr>
        <p:txBody>
          <a:bodyPr vert="horz" lIns="150602" tIns="75301" rIns="150602" bIns="75301"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758" y="7369629"/>
            <a:ext cx="19400157" cy="3069771"/>
          </a:xfrm>
          <a:prstGeom prst="rect">
            <a:avLst/>
          </a:prstGeom>
        </p:spPr>
        <p:txBody>
          <a:bodyPr vert="horz" lIns="150602" tIns="75301" rIns="150602" bIns="75301" anchor="b"/>
          <a:lstStyle>
            <a:lvl1pPr marL="0" indent="0">
              <a:buNone/>
              <a:defRPr sz="4000" b="1"/>
            </a:lvl1pPr>
            <a:lvl2pPr marL="753008" indent="0">
              <a:buNone/>
              <a:defRPr sz="3300" b="1"/>
            </a:lvl2pPr>
            <a:lvl3pPr marL="1506017" indent="0">
              <a:buNone/>
              <a:defRPr sz="3000" b="1"/>
            </a:lvl3pPr>
            <a:lvl4pPr marL="2259025" indent="0">
              <a:buNone/>
              <a:defRPr sz="2600" b="1"/>
            </a:lvl4pPr>
            <a:lvl5pPr marL="3012034" indent="0">
              <a:buNone/>
              <a:defRPr sz="2600" b="1"/>
            </a:lvl5pPr>
            <a:lvl6pPr marL="3765042" indent="0">
              <a:buNone/>
              <a:defRPr sz="2600" b="1"/>
            </a:lvl6pPr>
            <a:lvl7pPr marL="4518050" indent="0">
              <a:buNone/>
              <a:defRPr sz="2600" b="1"/>
            </a:lvl7pPr>
            <a:lvl8pPr marL="5271059" indent="0">
              <a:buNone/>
              <a:defRPr sz="2600" b="1"/>
            </a:lvl8pPr>
            <a:lvl9pPr marL="6024067" indent="0">
              <a:buNone/>
              <a:defRPr sz="2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758" y="10439400"/>
            <a:ext cx="19400157" cy="18965637"/>
          </a:xfrm>
          <a:prstGeom prst="rect">
            <a:avLst/>
          </a:prstGeom>
        </p:spPr>
        <p:txBody>
          <a:bodyPr vert="horz" lIns="150602" tIns="75301" rIns="150602" bIns="75301"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9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287" y="1317171"/>
            <a:ext cx="39500629" cy="5486400"/>
          </a:xfrm>
          <a:prstGeom prst="rect">
            <a:avLst/>
          </a:prstGeom>
        </p:spPr>
        <p:txBody>
          <a:bodyPr vert="horz" lIns="150602" tIns="75301" rIns="150602" bIns="75301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916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944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286" y="1311729"/>
            <a:ext cx="14439901" cy="5576208"/>
          </a:xfrm>
          <a:prstGeom prst="rect">
            <a:avLst/>
          </a:prstGeom>
        </p:spPr>
        <p:txBody>
          <a:bodyPr vert="horz" lIns="150602" tIns="75301" rIns="150602" bIns="75301" anchor="b"/>
          <a:lstStyle>
            <a:lvl1pPr algn="l">
              <a:defRPr sz="3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514" y="1311731"/>
            <a:ext cx="24536400" cy="28093308"/>
          </a:xfrm>
          <a:prstGeom prst="rect">
            <a:avLst/>
          </a:prstGeom>
        </p:spPr>
        <p:txBody>
          <a:bodyPr vert="horz" lIns="150602" tIns="75301" rIns="150602" bIns="75301"/>
          <a:lstStyle>
            <a:lvl1pPr>
              <a:defRPr sz="5300"/>
            </a:lvl1pPr>
            <a:lvl2pPr>
              <a:defRPr sz="46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5286" y="6887937"/>
            <a:ext cx="14439901" cy="22517100"/>
          </a:xfrm>
          <a:prstGeom prst="rect">
            <a:avLst/>
          </a:prstGeom>
        </p:spPr>
        <p:txBody>
          <a:bodyPr vert="horz" lIns="150602" tIns="75301" rIns="150602" bIns="75301"/>
          <a:lstStyle>
            <a:lvl1pPr marL="0" indent="0">
              <a:buNone/>
              <a:defRPr sz="2300"/>
            </a:lvl1pPr>
            <a:lvl2pPr marL="753008" indent="0">
              <a:buNone/>
              <a:defRPr sz="2000"/>
            </a:lvl2pPr>
            <a:lvl3pPr marL="1506017" indent="0">
              <a:buNone/>
              <a:defRPr sz="1600"/>
            </a:lvl3pPr>
            <a:lvl4pPr marL="2259025" indent="0">
              <a:buNone/>
              <a:defRPr sz="1500"/>
            </a:lvl4pPr>
            <a:lvl5pPr marL="3012034" indent="0">
              <a:buNone/>
              <a:defRPr sz="1500"/>
            </a:lvl5pPr>
            <a:lvl6pPr marL="3765042" indent="0">
              <a:buNone/>
              <a:defRPr sz="1500"/>
            </a:lvl6pPr>
            <a:lvl7pPr marL="4518050" indent="0">
              <a:buNone/>
              <a:defRPr sz="1500"/>
            </a:lvl7pPr>
            <a:lvl8pPr marL="5271059" indent="0">
              <a:buNone/>
              <a:defRPr sz="1500"/>
            </a:lvl8pPr>
            <a:lvl9pPr marL="6024067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833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343" y="23042336"/>
            <a:ext cx="26334358" cy="2721429"/>
          </a:xfrm>
          <a:prstGeom prst="rect">
            <a:avLst/>
          </a:prstGeom>
        </p:spPr>
        <p:txBody>
          <a:bodyPr vert="horz" lIns="150602" tIns="75301" rIns="150602" bIns="75301" anchor="b"/>
          <a:lstStyle>
            <a:lvl1pPr algn="l">
              <a:defRPr sz="3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343" y="2941868"/>
            <a:ext cx="26334358" cy="19749406"/>
          </a:xfrm>
          <a:prstGeom prst="rect">
            <a:avLst/>
          </a:prstGeom>
        </p:spPr>
        <p:txBody>
          <a:bodyPr vert="horz" lIns="150602" tIns="75301" rIns="150602" bIns="75301"/>
          <a:lstStyle>
            <a:lvl1pPr marL="0" indent="0">
              <a:buNone/>
              <a:defRPr sz="5300"/>
            </a:lvl1pPr>
            <a:lvl2pPr marL="753008" indent="0">
              <a:buNone/>
              <a:defRPr sz="4600"/>
            </a:lvl2pPr>
            <a:lvl3pPr marL="1506017" indent="0">
              <a:buNone/>
              <a:defRPr sz="4000"/>
            </a:lvl3pPr>
            <a:lvl4pPr marL="2259025" indent="0">
              <a:buNone/>
              <a:defRPr sz="3300"/>
            </a:lvl4pPr>
            <a:lvl5pPr marL="3012034" indent="0">
              <a:buNone/>
              <a:defRPr sz="3300"/>
            </a:lvl5pPr>
            <a:lvl6pPr marL="3765042" indent="0">
              <a:buNone/>
              <a:defRPr sz="3300"/>
            </a:lvl6pPr>
            <a:lvl7pPr marL="4518050" indent="0">
              <a:buNone/>
              <a:defRPr sz="3300"/>
            </a:lvl7pPr>
            <a:lvl8pPr marL="5271059" indent="0">
              <a:buNone/>
              <a:defRPr sz="3300"/>
            </a:lvl8pPr>
            <a:lvl9pPr marL="6024067" indent="0">
              <a:buNone/>
              <a:defRPr sz="33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343" y="25763765"/>
            <a:ext cx="26334358" cy="3861706"/>
          </a:xfrm>
          <a:prstGeom prst="rect">
            <a:avLst/>
          </a:prstGeom>
        </p:spPr>
        <p:txBody>
          <a:bodyPr vert="horz" lIns="150602" tIns="75301" rIns="150602" bIns="75301"/>
          <a:lstStyle>
            <a:lvl1pPr marL="0" indent="0">
              <a:buNone/>
              <a:defRPr sz="2300"/>
            </a:lvl1pPr>
            <a:lvl2pPr marL="753008" indent="0">
              <a:buNone/>
              <a:defRPr sz="2000"/>
            </a:lvl2pPr>
            <a:lvl3pPr marL="1506017" indent="0">
              <a:buNone/>
              <a:defRPr sz="1600"/>
            </a:lvl3pPr>
            <a:lvl4pPr marL="2259025" indent="0">
              <a:buNone/>
              <a:defRPr sz="1500"/>
            </a:lvl4pPr>
            <a:lvl5pPr marL="3012034" indent="0">
              <a:buNone/>
              <a:defRPr sz="1500"/>
            </a:lvl5pPr>
            <a:lvl6pPr marL="3765042" indent="0">
              <a:buNone/>
              <a:defRPr sz="1500"/>
            </a:lvl6pPr>
            <a:lvl7pPr marL="4518050" indent="0">
              <a:buNone/>
              <a:defRPr sz="1500"/>
            </a:lvl7pPr>
            <a:lvl8pPr marL="5271059" indent="0">
              <a:buNone/>
              <a:defRPr sz="1500"/>
            </a:lvl8pPr>
            <a:lvl9pPr marL="6024067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2862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287" y="1317171"/>
            <a:ext cx="39500629" cy="5486400"/>
          </a:xfrm>
          <a:prstGeom prst="rect">
            <a:avLst/>
          </a:prstGeom>
        </p:spPr>
        <p:txBody>
          <a:bodyPr vert="horz" lIns="150602" tIns="75301" rIns="150602" bIns="7530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5287" y="7679874"/>
            <a:ext cx="39500629" cy="21725165"/>
          </a:xfrm>
          <a:prstGeom prst="rect">
            <a:avLst/>
          </a:prstGeom>
        </p:spPr>
        <p:txBody>
          <a:bodyPr vert="eaVert" lIns="150602" tIns="75301" rIns="150602" bIns="7530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800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0759" y="1317172"/>
            <a:ext cx="9875157" cy="28087865"/>
          </a:xfrm>
          <a:prstGeom prst="rect">
            <a:avLst/>
          </a:prstGeom>
        </p:spPr>
        <p:txBody>
          <a:bodyPr vert="eaVert" lIns="150602" tIns="75301" rIns="150602" bIns="7530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5287" y="1317172"/>
            <a:ext cx="29451301" cy="28087865"/>
          </a:xfrm>
          <a:prstGeom prst="rect">
            <a:avLst/>
          </a:prstGeom>
        </p:spPr>
        <p:txBody>
          <a:bodyPr vert="eaVert" lIns="150602" tIns="75301" rIns="150602" bIns="7530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588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Text Box 38"/>
          <p:cNvSpPr txBox="1">
            <a:spLocks noChangeArrowheads="1"/>
          </p:cNvSpPr>
          <p:nvPr userDrawn="1"/>
        </p:nvSpPr>
        <p:spPr bwMode="auto">
          <a:xfrm>
            <a:off x="14935201" y="6172200"/>
            <a:ext cx="1400628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37931725" indent="-37474525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4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613394" rtl="0" eaLnBrk="0" fontAlgn="base" hangingPunct="0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+mj-lt"/>
          <a:ea typeface="ＭＳ Ｐゴシック" pitchFamily="-65" charset="-128"/>
          <a:cs typeface="+mj-cs"/>
        </a:defRPr>
      </a:lvl1pPr>
      <a:lvl2pPr algn="ctr" defTabSz="3613394" rtl="0" eaLnBrk="0" fontAlgn="base" hangingPunct="0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  <a:ea typeface="ＭＳ Ｐゴシック" pitchFamily="-65" charset="-128"/>
        </a:defRPr>
      </a:lvl2pPr>
      <a:lvl3pPr algn="ctr" defTabSz="3613394" rtl="0" eaLnBrk="0" fontAlgn="base" hangingPunct="0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  <a:ea typeface="ＭＳ Ｐゴシック" pitchFamily="-65" charset="-128"/>
        </a:defRPr>
      </a:lvl3pPr>
      <a:lvl4pPr algn="ctr" defTabSz="3613394" rtl="0" eaLnBrk="0" fontAlgn="base" hangingPunct="0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  <a:ea typeface="ＭＳ Ｐゴシック" pitchFamily="-65" charset="-128"/>
        </a:defRPr>
      </a:lvl4pPr>
      <a:lvl5pPr algn="ctr" defTabSz="3613394" rtl="0" eaLnBrk="0" fontAlgn="base" hangingPunct="0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  <a:ea typeface="ＭＳ Ｐゴシック" pitchFamily="-65" charset="-128"/>
        </a:defRPr>
      </a:lvl5pPr>
      <a:lvl6pPr marL="753008" algn="ctr" defTabSz="3613394" rtl="0" fontAlgn="base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</a:defRPr>
      </a:lvl6pPr>
      <a:lvl7pPr marL="1506017" algn="ctr" defTabSz="3613394" rtl="0" fontAlgn="base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</a:defRPr>
      </a:lvl7pPr>
      <a:lvl8pPr marL="2259025" algn="ctr" defTabSz="3613394" rtl="0" fontAlgn="base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</a:defRPr>
      </a:lvl8pPr>
      <a:lvl9pPr marL="3012034" algn="ctr" defTabSz="3613394" rtl="0" fontAlgn="base">
        <a:spcBef>
          <a:spcPct val="0"/>
        </a:spcBef>
        <a:spcAft>
          <a:spcPct val="0"/>
        </a:spcAft>
        <a:defRPr sz="10700" b="1">
          <a:solidFill>
            <a:schemeClr val="bg1"/>
          </a:solidFill>
          <a:latin typeface="Arial" pitchFamily="-65" charset="0"/>
        </a:defRPr>
      </a:lvl9pPr>
    </p:titleStyle>
    <p:bodyStyle>
      <a:lvl1pPr marL="1354369" indent="-1354369" algn="l" defTabSz="3613394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1pPr>
      <a:lvl2pPr marL="2936211" indent="-1129513" algn="l" defTabSz="3613394" rtl="0" eaLnBrk="0" fontAlgn="base" hangingPunct="0">
        <a:spcBef>
          <a:spcPct val="20000"/>
        </a:spcBef>
        <a:spcAft>
          <a:spcPct val="0"/>
        </a:spcAft>
        <a:buChar char="–"/>
        <a:defRPr sz="5900">
          <a:solidFill>
            <a:schemeClr val="tx1"/>
          </a:solidFill>
          <a:latin typeface="+mn-lt"/>
          <a:ea typeface="ＭＳ Ｐゴシック" pitchFamily="-65" charset="-128"/>
        </a:defRPr>
      </a:lvl2pPr>
      <a:lvl3pPr marL="4518050" indent="-904656" algn="l" defTabSz="3613394" rtl="0" eaLnBrk="0" fontAlgn="base" hangingPunct="0">
        <a:spcBef>
          <a:spcPct val="20000"/>
        </a:spcBef>
        <a:spcAft>
          <a:spcPct val="0"/>
        </a:spcAft>
        <a:buChar char="•"/>
        <a:defRPr sz="5100">
          <a:solidFill>
            <a:schemeClr val="tx1"/>
          </a:solidFill>
          <a:latin typeface="+mn-lt"/>
          <a:ea typeface="ＭＳ Ｐゴシック" pitchFamily="-65" charset="-128"/>
        </a:defRPr>
      </a:lvl3pPr>
      <a:lvl4pPr marL="6324748" indent="-902042" algn="l" defTabSz="3613394" rtl="0" eaLnBrk="0" fontAlgn="base" hangingPunct="0">
        <a:spcBef>
          <a:spcPct val="20000"/>
        </a:spcBef>
        <a:spcAft>
          <a:spcPct val="0"/>
        </a:spcAft>
        <a:buChar char="–"/>
        <a:defRPr sz="4000">
          <a:solidFill>
            <a:schemeClr val="tx1"/>
          </a:solidFill>
          <a:latin typeface="+mn-lt"/>
          <a:ea typeface="ＭＳ Ｐゴシック" pitchFamily="-65" charset="-128"/>
        </a:defRPr>
      </a:lvl4pPr>
      <a:lvl5pPr marL="8131445" indent="-902042" algn="l" defTabSz="3613394" rtl="0" eaLnBrk="0" fontAlgn="base" hangingPunct="0">
        <a:spcBef>
          <a:spcPct val="20000"/>
        </a:spcBef>
        <a:spcAft>
          <a:spcPct val="0"/>
        </a:spcAft>
        <a:buChar char="»"/>
        <a:defRPr sz="4000">
          <a:solidFill>
            <a:schemeClr val="tx1"/>
          </a:solidFill>
          <a:latin typeface="+mn-lt"/>
          <a:ea typeface="ＭＳ Ｐゴシック" pitchFamily="-65" charset="-128"/>
        </a:defRPr>
      </a:lvl5pPr>
      <a:lvl6pPr marL="8884453" indent="-902042" algn="l" defTabSz="3613394" rtl="0" fontAlgn="base">
        <a:spcBef>
          <a:spcPct val="20000"/>
        </a:spcBef>
        <a:spcAft>
          <a:spcPct val="0"/>
        </a:spcAft>
        <a:buChar char="»"/>
        <a:defRPr sz="4000">
          <a:solidFill>
            <a:schemeClr val="tx1"/>
          </a:solidFill>
          <a:latin typeface="+mn-lt"/>
          <a:ea typeface="ＭＳ Ｐゴシック" pitchFamily="-65" charset="-128"/>
        </a:defRPr>
      </a:lvl6pPr>
      <a:lvl7pPr marL="9637462" indent="-902042" algn="l" defTabSz="3613394" rtl="0" fontAlgn="base">
        <a:spcBef>
          <a:spcPct val="20000"/>
        </a:spcBef>
        <a:spcAft>
          <a:spcPct val="0"/>
        </a:spcAft>
        <a:buChar char="»"/>
        <a:defRPr sz="4000">
          <a:solidFill>
            <a:schemeClr val="tx1"/>
          </a:solidFill>
          <a:latin typeface="+mn-lt"/>
          <a:ea typeface="ＭＳ Ｐゴシック" pitchFamily="-65" charset="-128"/>
        </a:defRPr>
      </a:lvl7pPr>
      <a:lvl8pPr marL="10390470" indent="-902042" algn="l" defTabSz="3613394" rtl="0" fontAlgn="base">
        <a:spcBef>
          <a:spcPct val="20000"/>
        </a:spcBef>
        <a:spcAft>
          <a:spcPct val="0"/>
        </a:spcAft>
        <a:buChar char="»"/>
        <a:defRPr sz="4000">
          <a:solidFill>
            <a:schemeClr val="tx1"/>
          </a:solidFill>
          <a:latin typeface="+mn-lt"/>
          <a:ea typeface="ＭＳ Ｐゴシック" pitchFamily="-65" charset="-128"/>
        </a:defRPr>
      </a:lvl8pPr>
      <a:lvl9pPr marL="11143478" indent="-902042" algn="l" defTabSz="3613394" rtl="0" fontAlgn="base">
        <a:spcBef>
          <a:spcPct val="20000"/>
        </a:spcBef>
        <a:spcAft>
          <a:spcPct val="0"/>
        </a:spcAft>
        <a:buChar char="»"/>
        <a:defRPr sz="4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3008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06017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59025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12034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65042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18050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71059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24067" algn="l" defTabSz="75300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bioinformatics.easternct.edu/BCBET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 bwMode="auto">
          <a:xfrm>
            <a:off x="470262" y="6694714"/>
            <a:ext cx="11874138" cy="1246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602" tIns="75301" rIns="150602" bIns="75301" rtlCol="0">
            <a:spAutoFit/>
          </a:bodyPr>
          <a:lstStyle/>
          <a:p>
            <a:pPr algn="l"/>
            <a:r>
              <a:rPr lang="en-US" sz="4000" dirty="0"/>
              <a:t>The </a:t>
            </a:r>
            <a:r>
              <a:rPr lang="en-US" sz="4000" u="sng" dirty="0"/>
              <a:t>B</a:t>
            </a:r>
            <a:r>
              <a:rPr lang="en-US" sz="4000" dirty="0"/>
              <a:t>ladder </a:t>
            </a:r>
            <a:r>
              <a:rPr lang="en-US" sz="4000" u="sng" dirty="0"/>
              <a:t>C</a:t>
            </a:r>
            <a:r>
              <a:rPr lang="en-US" sz="4000" dirty="0"/>
              <a:t>ancer </a:t>
            </a:r>
            <a:r>
              <a:rPr lang="en-US" sz="4000" u="sng" dirty="0"/>
              <a:t>B</a:t>
            </a:r>
            <a:r>
              <a:rPr lang="en-US" sz="4000" dirty="0"/>
              <a:t>iomarker </a:t>
            </a:r>
            <a:r>
              <a:rPr lang="en-US" sz="4000" u="sng" dirty="0"/>
              <a:t>E</a:t>
            </a:r>
            <a:r>
              <a:rPr lang="en-US" sz="4000" dirty="0"/>
              <a:t>valuation </a:t>
            </a:r>
            <a:r>
              <a:rPr lang="en-US" sz="4000" u="sng" dirty="0"/>
              <a:t>T</a:t>
            </a:r>
            <a:r>
              <a:rPr lang="en-US" sz="4000" dirty="0"/>
              <a:t>ool (BC-BET) is a web application for quickly evaluating candidate diagnostic and prognostic biomarkers in bladder cancer, based on publicly available gene expression datasets [Dancik, G. M. </a:t>
            </a:r>
            <a:r>
              <a:rPr lang="en-US" sz="4000" i="1" dirty="0"/>
              <a:t>BMC Urol.</a:t>
            </a:r>
            <a:r>
              <a:rPr lang="en-US" sz="4000" dirty="0"/>
              <a:t> </a:t>
            </a:r>
            <a:r>
              <a:rPr lang="en-US" sz="4000" b="1" dirty="0"/>
              <a:t>15</a:t>
            </a:r>
            <a:r>
              <a:rPr lang="en-US" sz="4000" dirty="0"/>
              <a:t>, 59 (2015)]. Specifically, </a:t>
            </a:r>
            <a:r>
              <a:rPr lang="en-US" sz="4000" i="1" dirty="0"/>
              <a:t>BC-BET</a:t>
            </a:r>
            <a:r>
              <a:rPr lang="en-US" sz="4000" dirty="0"/>
              <a:t> evaluates whether a selected gene is differentially expressed between normal cells and tumor samples; between low- and high- grade tumors; and between non-muscle invasive and muscle-invasive tumors. </a:t>
            </a:r>
            <a:r>
              <a:rPr lang="en-US" sz="4000" i="1" dirty="0"/>
              <a:t>BC-BET</a:t>
            </a:r>
            <a:r>
              <a:rPr lang="en-US" sz="4000" dirty="0"/>
              <a:t> also evaluates whether a selected gene is significantly associated with survival, and whether the gene is associated with survival in two clinically important patient subsets: patients with low-grade, non-muscle invasive tumors; and patients with high-grade, muscle invasive tumors.</a:t>
            </a:r>
            <a:endParaRPr lang="en-US" sz="4000" b="1" dirty="0"/>
          </a:p>
          <a:p>
            <a:pPr algn="l"/>
            <a:endParaRPr lang="en-US" sz="4000" dirty="0"/>
          </a:p>
          <a:p>
            <a:pPr algn="l"/>
            <a:r>
              <a:rPr lang="en-US" sz="4000" dirty="0"/>
              <a:t>Availability: </a:t>
            </a:r>
            <a:r>
              <a:rPr lang="en-US" sz="4000" dirty="0">
                <a:hlinkClick r:id="rId3"/>
              </a:rPr>
              <a:t>http://bioinformatics.easternct.edu/BCBET</a:t>
            </a:r>
            <a:endParaRPr lang="en-US" sz="4000" dirty="0"/>
          </a:p>
        </p:txBody>
      </p:sp>
      <p:sp>
        <p:nvSpPr>
          <p:cNvPr id="15371" name="AutoShape 55"/>
          <p:cNvSpPr>
            <a:spLocks noChangeArrowheads="1"/>
          </p:cNvSpPr>
          <p:nvPr/>
        </p:nvSpPr>
        <p:spPr bwMode="auto">
          <a:xfrm>
            <a:off x="366487" y="359230"/>
            <a:ext cx="43158229" cy="4180114"/>
          </a:xfrm>
          <a:prstGeom prst="roundRect">
            <a:avLst>
              <a:gd name="adj" fmla="val 16667"/>
            </a:avLst>
          </a:prstGeom>
          <a:solidFill>
            <a:srgbClr val="00264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150602" tIns="75301" rIns="150602" bIns="75301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5363" name="AutoShape 60"/>
          <p:cNvSpPr>
            <a:spLocks noChangeArrowheads="1"/>
          </p:cNvSpPr>
          <p:nvPr/>
        </p:nvSpPr>
        <p:spPr bwMode="auto">
          <a:xfrm>
            <a:off x="366487" y="31546800"/>
            <a:ext cx="43158229" cy="94705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02649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150602" tIns="75301" rIns="150602" bIns="75301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056" name="AutoShape 59"/>
          <p:cNvSpPr>
            <a:spLocks noChangeArrowheads="1"/>
          </p:cNvSpPr>
          <p:nvPr/>
        </p:nvSpPr>
        <p:spPr bwMode="auto">
          <a:xfrm>
            <a:off x="543413" y="5257800"/>
            <a:ext cx="11836403" cy="117565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02649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150602" tIns="75301" rIns="150602" bIns="75301" anchor="ctr"/>
          <a:lstStyle/>
          <a:p>
            <a:endParaRPr lang="en-US" dirty="0"/>
          </a:p>
        </p:txBody>
      </p:sp>
      <p:sp>
        <p:nvSpPr>
          <p:cNvPr id="2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0889" y="457200"/>
            <a:ext cx="35681192" cy="38862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602" tIns="75301" rIns="150602" bIns="75301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8800" i="1" dirty="0"/>
              <a:t>BC-BET v2.0</a:t>
            </a:r>
            <a:r>
              <a:rPr lang="en-US" sz="8800" dirty="0"/>
              <a:t>: updates to an online Bladder Cancer Biomarker Evaluation Tool</a:t>
            </a:r>
            <a:br>
              <a:rPr lang="en-US" sz="8800" dirty="0"/>
            </a:br>
            <a:r>
              <a:rPr lang="en-US" sz="4600" dirty="0"/>
              <a:t>Garrett M. Dancik</a:t>
            </a:r>
            <a:br>
              <a:rPr lang="en-US" sz="4600" dirty="0"/>
            </a:br>
            <a:r>
              <a:rPr lang="en-US" sz="4600" dirty="0"/>
              <a:t>Department of Computer Science, Eastern Connecticut State University, Willimantic, Connecticut, USA</a:t>
            </a:r>
            <a:endParaRPr lang="en-US" sz="3000" dirty="0"/>
          </a:p>
        </p:txBody>
      </p:sp>
      <p:sp>
        <p:nvSpPr>
          <p:cNvPr id="2060" name="Text Box 5"/>
          <p:cNvSpPr txBox="1">
            <a:spLocks noChangeArrowheads="1"/>
          </p:cNvSpPr>
          <p:nvPr/>
        </p:nvSpPr>
        <p:spPr bwMode="auto">
          <a:xfrm>
            <a:off x="522512" y="5431536"/>
            <a:ext cx="11829667" cy="109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5900" b="1" dirty="0">
                <a:solidFill>
                  <a:srgbClr val="7C2128"/>
                </a:solidFill>
              </a:rPr>
              <a:t>Introduction</a:t>
            </a:r>
            <a:endParaRPr lang="en-US" sz="3300" b="1" dirty="0">
              <a:solidFill>
                <a:srgbClr val="7C2128"/>
              </a:solidFill>
            </a:endParaRPr>
          </a:p>
        </p:txBody>
      </p:sp>
      <p:sp>
        <p:nvSpPr>
          <p:cNvPr id="15382" name="Text Box 15"/>
          <p:cNvSpPr txBox="1">
            <a:spLocks noChangeArrowheads="1"/>
          </p:cNvSpPr>
          <p:nvPr/>
        </p:nvSpPr>
        <p:spPr bwMode="auto">
          <a:xfrm>
            <a:off x="625020" y="19049161"/>
            <a:ext cx="11872902" cy="8154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37931725" indent="-37474525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endParaRPr lang="en-US" sz="4000" dirty="0"/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endParaRPr lang="en-US" sz="4000" i="1" dirty="0"/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New datasets: </a:t>
            </a:r>
            <a:r>
              <a:rPr lang="en-US" sz="4000" i="1" dirty="0"/>
              <a:t>BC-BET</a:t>
            </a:r>
            <a:r>
              <a:rPr lang="en-US" sz="4000" dirty="0"/>
              <a:t> contains 15 patient cohorts (N = 1559).</a:t>
            </a:r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Improved performance (~2x faster)</a:t>
            </a:r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Visualization of differential expression (boxplots) and survival analyses (KM curves)</a:t>
            </a:r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Support for multi-gene queries</a:t>
            </a:r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Data export (results + expression and clinical data)</a:t>
            </a:r>
          </a:p>
        </p:txBody>
      </p:sp>
      <p:sp>
        <p:nvSpPr>
          <p:cNvPr id="2074" name="AutoShape 51"/>
          <p:cNvSpPr>
            <a:spLocks noChangeArrowheads="1"/>
          </p:cNvSpPr>
          <p:nvPr/>
        </p:nvSpPr>
        <p:spPr bwMode="auto">
          <a:xfrm>
            <a:off x="1462314" y="1175657"/>
            <a:ext cx="5486400" cy="3526971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50602" tIns="75301" rIns="150602" bIns="75301" anchor="ctr"/>
          <a:lstStyle/>
          <a:p>
            <a:endParaRPr lang="en-US" dirty="0"/>
          </a:p>
        </p:txBody>
      </p:sp>
      <p:sp>
        <p:nvSpPr>
          <p:cNvPr id="2078" name="TextBox 6"/>
          <p:cNvSpPr txBox="1">
            <a:spLocks noChangeArrowheads="1"/>
          </p:cNvSpPr>
          <p:nvPr/>
        </p:nvSpPr>
        <p:spPr bwMode="auto">
          <a:xfrm>
            <a:off x="457200" y="1632555"/>
            <a:ext cx="4389120" cy="156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602" tIns="75301" rIns="150602" bIns="75301">
            <a:spAutoFit/>
          </a:bodyPr>
          <a:lstStyle>
            <a:lvl1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/>
            <a:r>
              <a:rPr lang="en-US" sz="4600" b="1" dirty="0">
                <a:solidFill>
                  <a:schemeClr val="bg1"/>
                </a:solidFill>
              </a:rPr>
              <a:t>Abstract #1195</a:t>
            </a:r>
          </a:p>
        </p:txBody>
      </p:sp>
      <p:sp>
        <p:nvSpPr>
          <p:cNvPr id="59" name="AutoShape 61"/>
          <p:cNvSpPr>
            <a:spLocks noChangeArrowheads="1"/>
          </p:cNvSpPr>
          <p:nvPr/>
        </p:nvSpPr>
        <p:spPr bwMode="auto">
          <a:xfrm>
            <a:off x="522512" y="19398343"/>
            <a:ext cx="11836403" cy="117565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02649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150602" tIns="75301" rIns="150602" bIns="75301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082" name="Text Box 6"/>
          <p:cNvSpPr txBox="1">
            <a:spLocks noChangeArrowheads="1"/>
          </p:cNvSpPr>
          <p:nvPr/>
        </p:nvSpPr>
        <p:spPr bwMode="auto">
          <a:xfrm>
            <a:off x="522512" y="19467576"/>
            <a:ext cx="11829667" cy="109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5900" b="1" dirty="0">
                <a:solidFill>
                  <a:srgbClr val="7C2128"/>
                </a:solidFill>
              </a:rPr>
              <a:t>Database updates</a:t>
            </a:r>
          </a:p>
        </p:txBody>
      </p:sp>
      <p:sp>
        <p:nvSpPr>
          <p:cNvPr id="2055" name="AutoShape 62"/>
          <p:cNvSpPr>
            <a:spLocks noChangeArrowheads="1"/>
          </p:cNvSpPr>
          <p:nvPr/>
        </p:nvSpPr>
        <p:spPr bwMode="auto">
          <a:xfrm>
            <a:off x="13030200" y="5257800"/>
            <a:ext cx="30336789" cy="117565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02649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150602" tIns="75301" rIns="150602" bIns="75301" anchor="ctr"/>
          <a:lstStyle/>
          <a:p>
            <a:endParaRPr lang="en-US" dirty="0"/>
          </a:p>
        </p:txBody>
      </p:sp>
      <p:sp>
        <p:nvSpPr>
          <p:cNvPr id="2059" name="Text Box 4"/>
          <p:cNvSpPr txBox="1">
            <a:spLocks noChangeArrowheads="1"/>
          </p:cNvSpPr>
          <p:nvPr/>
        </p:nvSpPr>
        <p:spPr bwMode="auto">
          <a:xfrm>
            <a:off x="13415043" y="5431536"/>
            <a:ext cx="29932744" cy="109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5900" b="1" dirty="0">
                <a:solidFill>
                  <a:srgbClr val="7C2128"/>
                </a:solidFill>
              </a:rPr>
              <a:t>Results</a:t>
            </a:r>
          </a:p>
        </p:txBody>
      </p:sp>
      <p:sp>
        <p:nvSpPr>
          <p:cNvPr id="105" name="Text Box 6"/>
          <p:cNvSpPr txBox="1">
            <a:spLocks noChangeArrowheads="1"/>
          </p:cNvSpPr>
          <p:nvPr/>
        </p:nvSpPr>
        <p:spPr bwMode="auto">
          <a:xfrm>
            <a:off x="522513" y="31775400"/>
            <a:ext cx="34224687" cy="61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sz="3000" b="1" dirty="0">
                <a:solidFill>
                  <a:srgbClr val="7C2128"/>
                </a:solidFill>
              </a:rPr>
              <a:t>Acknowledgements: </a:t>
            </a:r>
            <a:r>
              <a:rPr lang="en-US" sz="3000" dirty="0">
                <a:solidFill>
                  <a:srgbClr val="7C2128"/>
                </a:solidFill>
              </a:rPr>
              <a:t>This work was supported, in part, by grants from the American Association of University Professors and Connecticut State University Board of Regents (DANR14 and YRDA01).</a:t>
            </a:r>
          </a:p>
        </p:txBody>
      </p:sp>
      <p:sp>
        <p:nvSpPr>
          <p:cNvPr id="547" name="Rectangle 546"/>
          <p:cNvSpPr/>
          <p:nvPr/>
        </p:nvSpPr>
        <p:spPr>
          <a:xfrm>
            <a:off x="13440444" y="29213979"/>
            <a:ext cx="13940286" cy="1875621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Visualizations are provided for each analysis for each dataset.</a:t>
            </a:r>
            <a:r>
              <a:rPr lang="en-US" sz="2800" dirty="0"/>
              <a:t> The "Plots" tab provides visualizations of all analyses (the first row of NMI vs MI comparisons for FGFR3 are shown). Users can also download a spreadsheet of the results or  data from individual cohorts (not shown)</a:t>
            </a:r>
            <a:endParaRPr lang="en-US" sz="2800" kern="150" dirty="0">
              <a:latin typeface="Times New Roman"/>
              <a:ea typeface="DejaVu Sans"/>
              <a:cs typeface="DejaVu Sans"/>
            </a:endParaRPr>
          </a:p>
        </p:txBody>
      </p:sp>
      <p:pic>
        <p:nvPicPr>
          <p:cNvPr id="5" name="Picture 4" descr="Eastern289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7800" y="1143000"/>
            <a:ext cx="338328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31665672" y="25603200"/>
            <a:ext cx="2779776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219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-65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0937688" y="25603200"/>
            <a:ext cx="2779776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219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-65" charset="0"/>
            </a:endParaRP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3E3BEA24-A30E-6541-B33F-51DF3830B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255" y="26746200"/>
            <a:ext cx="11872902" cy="4460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37931725" indent="-37474525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endParaRPr lang="en-US" sz="4000" dirty="0"/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endParaRPr lang="en-US" sz="4000" i="1" dirty="0"/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R is used for data processing</a:t>
            </a:r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MongoDB is used for data storage</a:t>
            </a:r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4000" dirty="0"/>
              <a:t>The web application is developed in R/Shiny</a:t>
            </a:r>
          </a:p>
        </p:txBody>
      </p:sp>
      <p:sp>
        <p:nvSpPr>
          <p:cNvPr id="40" name="Text Box 15">
            <a:extLst>
              <a:ext uri="{FF2B5EF4-FFF2-40B4-BE49-F238E27FC236}">
                <a16:creationId xmlns:a16="http://schemas.microsoft.com/office/drawing/2014/main" id="{69B91A44-6C11-D849-992F-DAACA3512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22" y="28686080"/>
            <a:ext cx="13949678" cy="16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37931725" indent="-37474525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endParaRPr lang="en-US" sz="4000" dirty="0"/>
          </a:p>
          <a:p>
            <a:pPr marL="753008" indent="-753008" algn="l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endParaRPr lang="en-US" sz="4000" i="1" dirty="0"/>
          </a:p>
        </p:txBody>
      </p:sp>
      <p:sp>
        <p:nvSpPr>
          <p:cNvPr id="42" name="AutoShape 61">
            <a:extLst>
              <a:ext uri="{FF2B5EF4-FFF2-40B4-BE49-F238E27FC236}">
                <a16:creationId xmlns:a16="http://schemas.microsoft.com/office/drawing/2014/main" id="{BCA2EEDD-0922-4040-8FFD-77DC17B01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203400"/>
            <a:ext cx="11836403" cy="117565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02649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150602" tIns="75301" rIns="150602" bIns="75301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3" name="Text Box 6">
            <a:extLst>
              <a:ext uri="{FF2B5EF4-FFF2-40B4-BE49-F238E27FC236}">
                <a16:creationId xmlns:a16="http://schemas.microsoft.com/office/drawing/2014/main" id="{E3C31C95-6B01-4840-B7B0-46A6C072F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294840"/>
            <a:ext cx="11829667" cy="109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0579" tIns="75289" rIns="150579" bIns="75289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algn="ctr" defTabSz="2193925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5900" b="1" dirty="0">
                <a:solidFill>
                  <a:srgbClr val="7C2128"/>
                </a:solidFill>
              </a:rPr>
              <a:t>Technical details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9CEAA8-4436-6649-9EC2-CE9546BAF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4529" y="8229600"/>
            <a:ext cx="13881100" cy="4800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5C7CF3-60E5-AB40-AC4C-61EBB12F1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4529" y="14859000"/>
            <a:ext cx="14046200" cy="6007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357EFA-EE88-E047-B3EA-17B8504668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66279" y="24594399"/>
            <a:ext cx="13817600" cy="4584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576392-A3C6-5644-ABD5-672C5E6A1C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3359" y="7942264"/>
            <a:ext cx="9755269" cy="50879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531A03-D750-C04A-A539-0F947559C6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43086" y="13258800"/>
            <a:ext cx="13436600" cy="75438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3E9BA892-401C-774B-8D4F-44321FADD825}"/>
              </a:ext>
            </a:extLst>
          </p:cNvPr>
          <p:cNvSpPr/>
          <p:nvPr/>
        </p:nvSpPr>
        <p:spPr>
          <a:xfrm>
            <a:off x="13334529" y="13162378"/>
            <a:ext cx="14046200" cy="1013847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Screenshot of </a:t>
            </a:r>
            <a:r>
              <a:rPr lang="en-US" sz="2800" b="1" i="1" dirty="0"/>
              <a:t>BC-BET</a:t>
            </a:r>
            <a:r>
              <a:rPr lang="en-US" sz="2800" b="1" dirty="0"/>
              <a:t> single gene analysis of </a:t>
            </a:r>
            <a:r>
              <a:rPr lang="en-US" sz="2800" b="1" i="1" dirty="0"/>
              <a:t>FGFR3</a:t>
            </a:r>
            <a:r>
              <a:rPr lang="en-US" sz="2800" b="1" dirty="0"/>
              <a:t>. </a:t>
            </a:r>
            <a:r>
              <a:rPr lang="en-US" sz="2800" dirty="0"/>
              <a:t>First, the user selects a gene and sets statistical parameters (not shown), and clicks the Evaluate button </a:t>
            </a:r>
            <a:endParaRPr lang="en-US" sz="2800" kern="150" dirty="0">
              <a:latin typeface="Times New Roman"/>
              <a:ea typeface="DejaVu Sans"/>
              <a:cs typeface="DejaVu San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699356-8039-3543-B31D-A32ABC526313}"/>
              </a:ext>
            </a:extLst>
          </p:cNvPr>
          <p:cNvSpPr/>
          <p:nvPr/>
        </p:nvSpPr>
        <p:spPr>
          <a:xfrm>
            <a:off x="13498607" y="21063317"/>
            <a:ext cx="14046200" cy="2737396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Results are presented using summary bar graphs and tables. </a:t>
            </a:r>
            <a:r>
              <a:rPr lang="en-US" sz="2800" dirty="0"/>
              <a:t>Bar graphs summarize the results for differential expression testing differential expression between tumor vs. normal samples, high grade vs. low grade samples, and non-muscle invasive vs muscle-invasive samples; and for survival analysis of all samples, and in subsets of patients with low-grade (lg), non-muscle invasive (</a:t>
            </a:r>
            <a:r>
              <a:rPr lang="en-US" sz="2800" dirty="0" err="1"/>
              <a:t>nmi</a:t>
            </a:r>
            <a:r>
              <a:rPr lang="en-US" sz="2800" dirty="0"/>
              <a:t>) tumors; and high-grade (hg), muscle invasive (mi) tumors. Tables on the right report the results from each dataset.</a:t>
            </a:r>
            <a:endParaRPr lang="en-US" sz="2800" kern="150" dirty="0">
              <a:latin typeface="Times New Roman"/>
              <a:ea typeface="DejaVu Sans"/>
              <a:cs typeface="DejaVu San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CB84F1-66E8-8347-AE4E-3650A0C218E1}"/>
              </a:ext>
            </a:extLst>
          </p:cNvPr>
          <p:cNvSpPr/>
          <p:nvPr/>
        </p:nvSpPr>
        <p:spPr>
          <a:xfrm>
            <a:off x="13440444" y="7151913"/>
            <a:ext cx="13940286" cy="767626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4000" b="1" kern="150" dirty="0">
                <a:latin typeface="Times New Roman"/>
                <a:ea typeface="DejaVu Sans"/>
                <a:cs typeface="DejaVu Sans"/>
              </a:rPr>
              <a:t>Example Single Gene Analysis (FGFR3)</a:t>
            </a:r>
            <a:endParaRPr lang="en-US" sz="4000" kern="150" dirty="0">
              <a:latin typeface="Times New Roman"/>
              <a:ea typeface="DejaVu Sans"/>
              <a:cs typeface="DejaVu San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55ACD0-235A-404C-882D-CA40D32538B1}"/>
              </a:ext>
            </a:extLst>
          </p:cNvPr>
          <p:cNvCxnSpPr>
            <a:cxnSpLocks/>
          </p:cNvCxnSpPr>
          <p:nvPr/>
        </p:nvCxnSpPr>
        <p:spPr bwMode="auto">
          <a:xfrm>
            <a:off x="28381415" y="6694714"/>
            <a:ext cx="95358" cy="24166286"/>
          </a:xfrm>
          <a:prstGeom prst="line">
            <a:avLst/>
          </a:prstGeom>
          <a:ln w="254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E69ADF3-1037-854D-A6B3-30236F816688}"/>
              </a:ext>
            </a:extLst>
          </p:cNvPr>
          <p:cNvSpPr/>
          <p:nvPr/>
        </p:nvSpPr>
        <p:spPr>
          <a:xfrm>
            <a:off x="29493714" y="7151913"/>
            <a:ext cx="13940286" cy="767626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4000" b="1" kern="150" dirty="0">
                <a:latin typeface="Times New Roman"/>
                <a:ea typeface="DejaVu Sans"/>
                <a:cs typeface="DejaVu Sans"/>
              </a:rPr>
              <a:t>Example Multi- </a:t>
            </a:r>
            <a:r>
              <a:rPr lang="en-US" sz="4000" b="1" kern="150">
                <a:latin typeface="Times New Roman"/>
                <a:ea typeface="DejaVu Sans"/>
                <a:cs typeface="DejaVu Sans"/>
              </a:rPr>
              <a:t>Gene Analysis (Cell Cycle Gene Set)</a:t>
            </a:r>
            <a:endParaRPr lang="en-US" sz="4000" kern="150" dirty="0">
              <a:latin typeface="Times New Roman"/>
              <a:ea typeface="DejaVu Sans"/>
              <a:cs typeface="DejaVu San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117DD9E-5B0F-6147-9311-6DA13A4AE050}"/>
              </a:ext>
            </a:extLst>
          </p:cNvPr>
          <p:cNvSpPr/>
          <p:nvPr/>
        </p:nvSpPr>
        <p:spPr>
          <a:xfrm>
            <a:off x="38197827" y="9372600"/>
            <a:ext cx="4129749" cy="2306509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Screenshot of </a:t>
            </a:r>
            <a:r>
              <a:rPr lang="en-US" sz="2800" b="1" i="1" dirty="0"/>
              <a:t>BC-BET</a:t>
            </a:r>
            <a:r>
              <a:rPr lang="en-US" sz="2800" b="1" dirty="0"/>
              <a:t> multi-gene analysis. </a:t>
            </a:r>
            <a:r>
              <a:rPr lang="en-US" sz="2800" dirty="0"/>
              <a:t>Users can enter genes or upload genes from a file.</a:t>
            </a:r>
            <a:endParaRPr lang="en-US" sz="2800" kern="150" dirty="0">
              <a:latin typeface="Times New Roman"/>
              <a:ea typeface="DejaVu Sans"/>
              <a:cs typeface="DejaVu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5C00F34-A73A-FE4D-9AEB-256D84D60614}"/>
                  </a:ext>
                </a:extLst>
              </p:cNvPr>
              <p:cNvSpPr/>
              <p:nvPr/>
            </p:nvSpPr>
            <p:spPr>
              <a:xfrm>
                <a:off x="29043087" y="20802600"/>
                <a:ext cx="13436599" cy="1444734"/>
              </a:xfrm>
              <a:prstGeom prst="rect">
                <a:avLst/>
              </a:prstGeom>
            </p:spPr>
            <p:txBody>
              <a:bodyPr wrap="square" lIns="150602" tIns="75301" rIns="150602" bIns="75301">
                <a:spAutoFit/>
              </a:bodyPr>
              <a:lstStyle/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dirty="0"/>
                  <a:t>Results are summarized and displayed in a heatmap</a:t>
                </a:r>
                <a:r>
                  <a:rPr lang="en-US" sz="2800" dirty="0"/>
                  <a:t>. For each gene, a score is calculated using the formula S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kern="150" dirty="0">
                    <a:latin typeface="Times New Roman"/>
                    <a:ea typeface="DejaVu Sans"/>
                    <a:cs typeface="DejaVu Sans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kern="150" dirty="0">
                    <a:latin typeface="Times New Roman"/>
                    <a:ea typeface="DejaVu Sans"/>
                    <a:cs typeface="DejaVu Sans"/>
                  </a:rPr>
                  <a:t>= 1 if the gene is significantly (P &lt; 0.05) up-regulated, -1 if the gene is significantly down-regulated, and 0 otherwise, for dataset </a:t>
                </a:r>
                <a14:m>
                  <m:oMath xmlns:m="http://schemas.openxmlformats.org/officeDocument/2006/math">
                    <m:r>
                      <a:rPr lang="en-US" sz="2800" b="0" i="1" kern="150" smtClean="0">
                        <a:latin typeface="Cambria Math" panose="02040503050406030204" pitchFamily="18" charset="0"/>
                        <a:ea typeface="DejaVu Sans"/>
                        <a:cs typeface="DejaVu Sans"/>
                      </a:rPr>
                      <m:t>𝑖</m:t>
                    </m:r>
                  </m:oMath>
                </a14:m>
                <a:r>
                  <a:rPr lang="en-US" sz="2800" kern="150" dirty="0">
                    <a:latin typeface="Times New Roman"/>
                    <a:ea typeface="DejaVu Sans"/>
                    <a:cs typeface="DejaVu Sans"/>
                  </a:rPr>
                  <a:t>.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5C00F34-A73A-FE4D-9AEB-256D84D606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3087" y="20802600"/>
                <a:ext cx="13436599" cy="1444734"/>
              </a:xfrm>
              <a:prstGeom prst="rect">
                <a:avLst/>
              </a:prstGeom>
              <a:blipFill>
                <a:blip r:embed="rId10"/>
                <a:stretch>
                  <a:fillRect l="-472" t="-14912" r="-567" b="-40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90E1D0F5-BD12-9B4E-B184-E6EE7FD581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30776" y="22402800"/>
            <a:ext cx="12496800" cy="70993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9F14A831-234A-1040-AA62-B8E4BF624211}"/>
              </a:ext>
            </a:extLst>
          </p:cNvPr>
          <p:cNvSpPr/>
          <p:nvPr/>
        </p:nvSpPr>
        <p:spPr>
          <a:xfrm>
            <a:off x="29043086" y="29847153"/>
            <a:ext cx="13436600" cy="1013847"/>
          </a:xfrm>
          <a:prstGeom prst="rect">
            <a:avLst/>
          </a:prstGeom>
        </p:spPr>
        <p:txBody>
          <a:bodyPr wrap="square" lIns="150602" tIns="75301" rIns="150602" bIns="75301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Dataset specific results are provided in a table. </a:t>
            </a:r>
            <a:r>
              <a:rPr lang="en-US" sz="2800" dirty="0"/>
              <a:t>Results can also be exported to an Excel spreadsheet (not shown).</a:t>
            </a:r>
            <a:r>
              <a:rPr lang="en-US" sz="2800" b="1" dirty="0"/>
              <a:t> </a:t>
            </a:r>
            <a:endParaRPr lang="en-US" sz="2800" kern="150" dirty="0">
              <a:latin typeface="Times New Roman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9148372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21939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600" b="0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Arial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21939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600" b="0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Arial" pitchFamily="-65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algn="l" eaLnBrk="1" hangingPunct="1">
          <a:defRPr sz="2000" b="1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4646</TotalTime>
  <Words>564</Words>
  <Application>Microsoft Macintosh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Times New Roman</vt:lpstr>
      <vt:lpstr>Default Design</vt:lpstr>
      <vt:lpstr>BC-BET v2.0: updates to an online Bladder Cancer Biomarker Evaluation Tool Garrett M. Dancik Department of Computer Science, Eastern Connecticut State University, Willimantic, Connecticut, USA</vt:lpstr>
    </vt:vector>
  </TitlesOfParts>
  <Company>SciFor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Posters1st</dc:creator>
  <cp:lastModifiedBy>Dancik,Garrett M.(Computer Science)</cp:lastModifiedBy>
  <cp:revision>708</cp:revision>
  <cp:lastPrinted>2015-04-13T16:54:43Z</cp:lastPrinted>
  <dcterms:created xsi:type="dcterms:W3CDTF">2003-12-17T18:44:28Z</dcterms:created>
  <dcterms:modified xsi:type="dcterms:W3CDTF">2022-04-06T14:36:17Z</dcterms:modified>
</cp:coreProperties>
</file>